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5"/>
  </p:notesMasterIdLst>
  <p:handoutMasterIdLst>
    <p:handoutMasterId r:id="rId16"/>
  </p:handoutMasterIdLst>
  <p:sldIdLst>
    <p:sldId id="312" r:id="rId5"/>
    <p:sldId id="304" r:id="rId6"/>
    <p:sldId id="307" r:id="rId7"/>
    <p:sldId id="323" r:id="rId8"/>
    <p:sldId id="281" r:id="rId9"/>
    <p:sldId id="325" r:id="rId10"/>
    <p:sldId id="324" r:id="rId11"/>
    <p:sldId id="326" r:id="rId12"/>
    <p:sldId id="282" r:id="rId13"/>
    <p:sldId id="327" r:id="rId14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14059E5B-F669-4F94-B6EF-E90B9696DEE4}">
          <p14:sldIdLst/>
        </p14:section>
        <p14:section name="Untitled Section" id="{3A8003CC-8D45-4B75-A678-2C549FF635C0}">
          <p14:sldIdLst>
            <p14:sldId id="312"/>
            <p14:sldId id="304"/>
            <p14:sldId id="307"/>
            <p14:sldId id="323"/>
            <p14:sldId id="281"/>
            <p14:sldId id="325"/>
            <p14:sldId id="324"/>
            <p14:sldId id="326"/>
            <p14:sldId id="282"/>
            <p14:sldId id="327"/>
          </p14:sldIdLst>
        </p14:section>
      </p14:sectionLst>
    </p:ex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BF6"/>
    <a:srgbClr val="202C8F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5388" autoAdjust="0"/>
  </p:normalViewPr>
  <p:slideViewPr>
    <p:cSldViewPr snapToGrid="0" snapToObjects="1">
      <p:cViewPr varScale="1">
        <p:scale>
          <a:sx n="111" d="100"/>
          <a:sy n="111" d="100"/>
        </p:scale>
        <p:origin x="588" y="114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727CE-9A0B-68AD-B0E7-4E9C9AE69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CB2507-CA00-59FF-1F43-054D494D6C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A00B46-857F-1CE2-CFE4-26CF5B170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r>
              <a:rPr lang="en-US" b="1" dirty="0"/>
              <a:t>Insight</a:t>
            </a:r>
            <a:r>
              <a:rPr lang="en-US" dirty="0"/>
              <a:t>: Members are the "backbone" of the system, showing high, steady volume Monday through Friday. Casual ridership is low during the workweek, but increases on Saturday and Sunday.</a:t>
            </a:r>
          </a:p>
          <a:p>
            <a:r>
              <a:rPr lang="en-US" b="1" dirty="0"/>
              <a:t>Demand throughout the day:</a:t>
            </a:r>
            <a:r>
              <a:rPr lang="en-US" dirty="0"/>
              <a:t> Highlight that member peaks coincide with traditional rush hours, while casual demand builds steadily in the afternoon.</a:t>
            </a:r>
          </a:p>
        </p:txBody>
      </p:sp>
    </p:spTree>
    <p:extLst>
      <p:ext uri="{BB962C8B-B14F-4D97-AF65-F5344CB8AC3E}">
        <p14:creationId xmlns:p14="http://schemas.microsoft.com/office/powerpoint/2010/main" val="3042609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r>
              <a:rPr lang="en-US" b="1" dirty="0"/>
              <a:t>Data Point:</a:t>
            </a:r>
            <a:r>
              <a:rPr lang="en-US" dirty="0"/>
              <a:t> Casual riders take significantly longer trips (averaging over 3,000 seconds) compared to members (under 1,000 seconds).</a:t>
            </a:r>
          </a:p>
          <a:p>
            <a:r>
              <a:rPr lang="en-US" b="1" dirty="0"/>
              <a:t>Analysis:</a:t>
            </a:r>
            <a:r>
              <a:rPr lang="en-US" dirty="0"/>
              <a:t> Members prioritize "Point A to Point B" efficiency. Casual riders use the bike as the activity itself, stopping for photos or taking scenic routes.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06423-8AB9-8298-7099-A5476AE54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D3670F-6201-0D49-4E86-0DCE950FE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6FDCEB-10CE-BEAB-C151-8D1EB36A1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r>
              <a:rPr lang="en-US" sz="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Insight: Annual members have a very steady usage pattern from Monday to Friday, suggesting a commuter-based behavior. </a:t>
            </a:r>
          </a:p>
          <a:p>
            <a:r>
              <a:rPr lang="en-US" sz="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Conversely, Casual ridership spikes on Saturday and Sunday, confirming that their usage is primarily recreational.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254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F342E-B551-7F64-198F-0C483B7A8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C0BE8F-70C1-F87E-DA05-B9B7526460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845413-33D5-5D55-9081-74FF2B0F2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r>
              <a:rPr lang="en-US" b="1" dirty="0"/>
              <a:t>Insight:</a:t>
            </a:r>
            <a:r>
              <a:rPr lang="en-US" dirty="0"/>
              <a:t> While both groups peak in summer, casual ridership almost disappears in winter.</a:t>
            </a:r>
          </a:p>
          <a:p>
            <a:r>
              <a:rPr lang="en-US" b="1" dirty="0"/>
              <a:t>Insight:</a:t>
            </a:r>
            <a:r>
              <a:rPr lang="en-US" dirty="0"/>
              <a:t> Members continue to ride even in colder months, proving they rely on Cyclistic as an essential transit link.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3974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B8197-7817-DD43-904E-573182B14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FF49C0-DCF5-671A-E45B-CCD8088B04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7DEAF5-BA0D-ED55-7A99-B7E63BF1A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8342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6AEDD-DBD8-01A5-17B7-1B86A2A50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66160D-0B72-0199-AC0D-86453C8DA5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583EB3-CC69-94F9-EB4B-889AD0C9B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774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87" y="2385391"/>
            <a:ext cx="6392421" cy="2199861"/>
          </a:xfrm>
        </p:spPr>
        <p:txBody>
          <a:bodyPr anchor="ctr"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Cyclistic Bike-Share Analysis: Converting Casual Riders to Annual Members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34F214-B858-73A3-7A03-FBBC87859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196" y="0"/>
            <a:ext cx="6705600" cy="26728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885BAD-E1D4-EA1E-4029-EAD615028F38}"/>
              </a:ext>
            </a:extLst>
          </p:cNvPr>
          <p:cNvSpPr txBox="1"/>
          <p:nvPr/>
        </p:nvSpPr>
        <p:spPr>
          <a:xfrm>
            <a:off x="2899787" y="5777948"/>
            <a:ext cx="639241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DFBF6"/>
                </a:solidFill>
                <a:latin typeface="Agency FB" panose="020B0503020202020204" pitchFamily="34" charset="0"/>
              </a:rPr>
              <a:t>Emmanuel Aryeetey</a:t>
            </a:r>
          </a:p>
          <a:p>
            <a:pPr algn="ctr"/>
            <a:r>
              <a:rPr lang="en-US" sz="2000" dirty="0">
                <a:solidFill>
                  <a:srgbClr val="FDFBF6"/>
                </a:solidFill>
                <a:latin typeface="Agency FB" panose="020B0503020202020204" pitchFamily="34" charset="0"/>
              </a:rPr>
              <a:t>2025-12-30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60ECAC-46B9-258C-24DB-598AF61AEEC2}"/>
              </a:ext>
            </a:extLst>
          </p:cNvPr>
          <p:cNvSpPr txBox="1"/>
          <p:nvPr/>
        </p:nvSpPr>
        <p:spPr>
          <a:xfrm>
            <a:off x="3617840" y="4185142"/>
            <a:ext cx="4956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Identifying Usage Patterns to Drive Growth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0337"/>
            <a:ext cx="6583680" cy="1531357"/>
          </a:xfrm>
        </p:spPr>
        <p:txBody>
          <a:bodyPr/>
          <a:lstStyle/>
          <a:p>
            <a:r>
              <a:rPr lang="en-US" dirty="0"/>
              <a:t>The business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826" y="2106267"/>
            <a:ext cx="7246189" cy="470139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6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</a:p>
          <a:p>
            <a:pPr>
              <a:lnSpc>
                <a:spcPct val="16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Understand how annual members and casual riders use Cyclistic bikes differently to design a membership conversion marketing strategy.</a:t>
            </a:r>
          </a:p>
          <a:p>
            <a:pPr>
              <a:lnSpc>
                <a:spcPct val="160000"/>
              </a:lnSpc>
            </a:pPr>
            <a:endParaRPr lang="en-US" dirty="0"/>
          </a:p>
          <a:p>
            <a:pPr>
              <a:lnSpc>
                <a:spcPct val="160000"/>
              </a:lnSpc>
            </a:pPr>
            <a:endParaRPr lang="en-US" dirty="0"/>
          </a:p>
          <a:p>
            <a:pPr>
              <a:lnSpc>
                <a:spcPct val="16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Key Question </a:t>
            </a:r>
          </a:p>
          <a:p>
            <a:pPr>
              <a:lnSpc>
                <a:spcPct val="16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are the distinct behavioral differences between "Casual" riders and "Annual Members"?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pPr algn="ctr"/>
            <a:r>
              <a:rPr lang="en-US" sz="3200" dirty="0"/>
              <a:t>Data overview and methodology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7A4DB7-2775-5B76-1D89-5A6006C3CD75}"/>
              </a:ext>
            </a:extLst>
          </p:cNvPr>
          <p:cNvSpPr txBox="1"/>
          <p:nvPr/>
        </p:nvSpPr>
        <p:spPr>
          <a:xfrm>
            <a:off x="569344" y="802256"/>
            <a:ext cx="5133098" cy="5113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Source</a:t>
            </a:r>
            <a:r>
              <a:rPr lang="en-US" sz="2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Historical trip data from the first quarter of 2019 and 2020 provided by Motivate International Inc.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 Used</a:t>
            </a:r>
            <a:r>
              <a:rPr lang="en-US" sz="2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R (tidyverse, lubridate, janitor) for data cleaning, manipulation, and visualization.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Integrity</a:t>
            </a:r>
            <a:r>
              <a:rPr lang="en-US" sz="2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Cleaned ID columns, handled date/time formats, and normalized trip durations for accuracy.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DAE78-3C68-2990-B8CB-B078F3246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56DF36-0C0E-46BC-833A-A09ABF3138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3079" y="465827"/>
            <a:ext cx="11004430" cy="6392174"/>
          </a:xfrm>
        </p:spPr>
      </p:pic>
    </p:spTree>
    <p:extLst>
      <p:ext uri="{BB962C8B-B14F-4D97-AF65-F5344CB8AC3E}">
        <p14:creationId xmlns:p14="http://schemas.microsoft.com/office/powerpoint/2010/main" val="1945971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7538BE4-5817-3554-8479-6308979D54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9947" y="462053"/>
            <a:ext cx="11309230" cy="6395947"/>
          </a:xfr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B3549-A4E4-D125-392F-5583E2A7F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E5CC8A-9ED4-75E6-FE19-0D6E90137A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2091" y="428702"/>
            <a:ext cx="11171207" cy="6429298"/>
          </a:xfrm>
        </p:spPr>
      </p:pic>
    </p:spTree>
    <p:extLst>
      <p:ext uri="{BB962C8B-B14F-4D97-AF65-F5344CB8AC3E}">
        <p14:creationId xmlns:p14="http://schemas.microsoft.com/office/powerpoint/2010/main" val="1519948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B0E4F-6045-95FA-89D7-156BC113B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E7B1D2-F0A3-73FE-0F9A-B4541DB113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8958" y="422694"/>
            <a:ext cx="11171208" cy="6435306"/>
          </a:xfrm>
        </p:spPr>
      </p:pic>
    </p:spTree>
    <p:extLst>
      <p:ext uri="{BB962C8B-B14F-4D97-AF65-F5344CB8AC3E}">
        <p14:creationId xmlns:p14="http://schemas.microsoft.com/office/powerpoint/2010/main" val="68020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BFF3E-9410-5F03-3596-29366765E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DB269EF-2EED-0737-46CC-BAFC6E3FC2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22693" y="465826"/>
            <a:ext cx="11317857" cy="6392174"/>
          </a:xfrm>
        </p:spPr>
      </p:pic>
    </p:spTree>
    <p:extLst>
      <p:ext uri="{BB962C8B-B14F-4D97-AF65-F5344CB8AC3E}">
        <p14:creationId xmlns:p14="http://schemas.microsoft.com/office/powerpoint/2010/main" val="3498579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9961" y="1293542"/>
            <a:ext cx="7965461" cy="994164"/>
          </a:xfrm>
        </p:spPr>
        <p:txBody>
          <a:bodyPr/>
          <a:lstStyle/>
          <a:p>
            <a:pPr algn="ctr"/>
            <a:r>
              <a:rPr lang="en-US" dirty="0"/>
              <a:t>Business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89675" y="2652561"/>
            <a:ext cx="8704053" cy="42054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Annual members maintain high, consistent ride volumes from Monday through Friday for routine commuting, while casual ridership is significantly lower during the weekdays and increases on weekends.</a:t>
            </a:r>
          </a:p>
          <a:p>
            <a:pPr>
              <a:lnSpc>
                <a:spcPct val="150000"/>
              </a:lnSpc>
            </a:pPr>
            <a:r>
              <a:rPr lang="en-US" dirty="0"/>
              <a:t>Casual riders take much longer trips compared to members.</a:t>
            </a:r>
          </a:p>
          <a:p>
            <a:pPr>
              <a:lnSpc>
                <a:spcPct val="150000"/>
              </a:lnSpc>
            </a:pPr>
            <a:r>
              <a:rPr lang="en-US" dirty="0"/>
              <a:t>Ride volume for both groups starts very low in mid-winter but begins a steep upward climb as March approaches</a:t>
            </a:r>
          </a:p>
          <a:p>
            <a:pPr>
              <a:lnSpc>
                <a:spcPct val="150000"/>
              </a:lnSpc>
            </a:pPr>
            <a:r>
              <a:rPr lang="en-US" dirty="0"/>
              <a:t>Casual riders heavily concentrate their activity at lakefront and tourist-centric stations like Streeter Dr &amp; Grand Ave, rather than inland transit hubs.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15A07-9933-3486-6D47-FA89E7CE8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17D30-8E26-212E-1DB3-9B6ACBD97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4" y="815735"/>
            <a:ext cx="7965461" cy="994164"/>
          </a:xfrm>
        </p:spPr>
        <p:txBody>
          <a:bodyPr/>
          <a:lstStyle/>
          <a:p>
            <a:pPr algn="ctr"/>
            <a:r>
              <a:rPr lang="en-US" dirty="0"/>
              <a:t>Recommendations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CE4D7-A12D-DBEC-0260-8ED48BFA7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6" y="2176837"/>
            <a:ext cx="8254106" cy="46811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Launch conversion campaigns at top casual-rider stations like Streeter Dr &amp; Grand Ave during the transition into spring.</a:t>
            </a:r>
          </a:p>
          <a:p>
            <a:pPr>
              <a:lnSpc>
                <a:spcPct val="150000"/>
              </a:lnSpc>
            </a:pPr>
            <a:r>
              <a:rPr lang="en-US" dirty="0"/>
              <a:t>Introduce a specialized membership tier for weekends to capture the high-volume recreational users.</a:t>
            </a:r>
          </a:p>
          <a:p>
            <a:pPr>
              <a:lnSpc>
                <a:spcPct val="150000"/>
              </a:lnSpc>
            </a:pPr>
            <a:r>
              <a:rPr lang="en-US" dirty="0"/>
              <a:t>Use mid-week digital advertisements to highlight the efficiency of the service for daily routines.</a:t>
            </a:r>
          </a:p>
          <a:p>
            <a:pPr>
              <a:lnSpc>
                <a:spcPct val="150000"/>
              </a:lnSpc>
            </a:pPr>
            <a:r>
              <a:rPr lang="en-US" dirty="0"/>
              <a:t>Create marketing content that emphasizes how annual memberships provide better cost-efficiency for the long-duration exploratory trips.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7255BFAF-3347-EEEA-E31E-16DCF49B3E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14110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{C759C139-5C8F-4D09-9807-D096BCB936A7}TF8a9b5915-b8c7-461e-8cdd-693d48b5e32371f7b7e2_win32-4bf0b9a2ea37</Template>
  <TotalTime>127</TotalTime>
  <Words>469</Words>
  <Application>Microsoft Office PowerPoint</Application>
  <PresentationFormat>Widescreen</PresentationFormat>
  <Paragraphs>38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Agency FB</vt:lpstr>
      <vt:lpstr>Arial</vt:lpstr>
      <vt:lpstr>Arial Black</vt:lpstr>
      <vt:lpstr>Calibri</vt:lpstr>
      <vt:lpstr>Sabon Next LT</vt:lpstr>
      <vt:lpstr>Custom</vt:lpstr>
      <vt:lpstr>Cyclistic Bike-Share Analysis: Converting Casual Riders to Annual Members </vt:lpstr>
      <vt:lpstr>The business task</vt:lpstr>
      <vt:lpstr>Data overview and methodology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Business conclusion</vt:lpstr>
      <vt:lpstr>Recommendations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Emmanuel Aryeetey</dc:creator>
  <cp:lastModifiedBy>Emmanuel Aryeetey</cp:lastModifiedBy>
  <cp:revision>2</cp:revision>
  <dcterms:created xsi:type="dcterms:W3CDTF">2026-02-03T10:43:31Z</dcterms:created>
  <dcterms:modified xsi:type="dcterms:W3CDTF">2026-02-03T12:51:26Z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